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05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6" r:id="rId13"/>
    <p:sldId id="327" r:id="rId14"/>
    <p:sldId id="325" r:id="rId15"/>
    <p:sldId id="300" r:id="rId1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44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2409-F41D-A6AF-A893-58F3F4C3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B46ED-191F-562D-44EF-54D26F7CA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CA6B7-9EF5-1010-0A61-5A51BF6B3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D3778-575A-14B5-099F-F12C3E58C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80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29C5E-637F-1C7D-714B-46944FDA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BA3D7-D6E7-375F-341A-C301D060A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7D6FB-F16E-FE56-FAEE-4A3BA643D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8F357-9E1F-60B0-376B-42E067D70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95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8587-87A2-E0C2-CBD9-9FB50DE04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81B72-E2C3-0688-2B5C-663A1AAB0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937EB-7598-66F3-87B3-6EDCFA2BF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000BD-73D3-8A11-7D34-D6B1C8827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54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2F79D-CA0D-B976-8000-D13ED819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5AAEE-7085-45A0-B726-C75834228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9364D-8A5C-6B4D-C42E-96E7C7663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7FD09-9566-3A13-A294-E8AFEFCF5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9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BB454-8679-D779-91CD-901E65671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A0B855-82A6-73F3-ADAE-C145294CF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558CA8-42E6-5BD9-D627-A3789914B2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9D1132-49C2-9933-73CE-0C476DDA0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7B3DBD-80A4-9994-908D-07D68CC94D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0E026-F824-9DB1-FE69-7D3514C6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3B507B-5DAE-5152-E1AD-EE68A64B5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B70DB5-447D-DB44-9AF1-C0BAACC9A6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9A6542-33C6-4E8A-955A-FFF9456B91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DEB9CC-0C72-DEF6-E0FD-F769BDB2AF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D848F-D36E-1918-5D9C-23455336D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6679D2-71E9-3160-A846-5ADD7544C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37D26F-9630-40B2-0B39-EEF280B28F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3F4993-24E1-9D36-0A74-207423F413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95F4AE-DC88-EE3B-B261-373A24D74D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B9B22-BE19-D53D-6BFE-7EE67D4B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52B350-C854-D597-1369-1251896D2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9E7523-364F-92D4-B857-4BE49AE299D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F1DC5B-BDD2-F986-8102-B2DB2F7E6A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DE4E83-F323-43DB-E264-DAF50F3BC6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ADBB9A-EC0E-B450-3B25-7247EB2659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B58BD-5541-A732-72E6-D8AC31C8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3C9DEB-CBF7-5347-F1E9-1F132805E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F4E0D4-0CC5-938D-5CD7-10F9CD06A6D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F902CE-1195-FB85-7320-3FD03B83F65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3EAA7-461E-E2A3-2CFC-3973368F53E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063CC9-A056-14E6-E6BF-737C16A0E9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5B70EF-9748-A8DF-3DDF-22F7845980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96794A7-C9A0-350B-BBA7-F66657F5EB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35169-EBAF-2969-78DC-BD432CA6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9B3E13C-6B25-EF21-F69D-8A5414F3FC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1F925A9-9B8D-DAF3-BAD5-7892B3D1EA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E20F86F-47CC-667E-85F1-096ACBD0E3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3E002A8-D20C-06ED-45F5-08417C2D62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DEE1B6-CC94-A030-BEEC-7CCABF5AF8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FEDB54-2E2A-FEC7-9ECE-88957B0DDF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8163C-452A-E993-953A-BD421689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B76F12-7527-69D0-8C96-25FB246DB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1A367E-080A-7768-8B36-FF18F750E3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46E5A0-2775-2458-F8CA-8618054BE5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011452-E5BC-9116-D5C9-62CE8EA3E9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AA2280-2F9B-CD21-76FE-9B687CC4F1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84B22-0037-D779-B31E-0CBD5D95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3D9A5A8-522F-7442-423C-FF960A217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F14AF1-770E-87EA-708A-C58DFCD169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FB4D3B-09A8-A617-C314-9B55A788B5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A8C1D2-73FA-FB37-E0C4-450AB6B88E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0F63AE-5C5C-7FB9-D135-73B43C1CD4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D6BE3-10E2-6CD8-0769-71190CE3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A5C966-7F5A-6880-8665-CEE849BC2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E76C36-04BE-58DF-EF8D-5A7F366F4B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0FC24D-5B3A-704C-DFDF-8E866088A7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8A054C-500B-9D07-AD5D-40EC067468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D4F47A-3228-1470-F934-DD8291D7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A5D2FF-F483-A3D2-DB8D-50C574FAE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970E35-3EDF-6C25-6972-B74A1B64AB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EFB325-6C23-AB9E-812A-C96962039F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F99347-9D35-5119-B481-C2D0DE24C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D46433-43F6-4FA7-8C7B-D8B9997CD4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2D640A0-A006-56DE-BB11-892018C90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37E2E5-7A2E-EB81-A941-9FB8B7603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E9C82A-E612-2AFA-6FF2-370208C7C51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8861F-14F1-4638-96F3-2EC3397B8A64}" type="datetimeFigureOut">
              <a:t>10/9/2026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627157-860F-B582-10C9-905A776EC2D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8955E3-4119-E011-F308-641E09FF921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46433-43F6-4FA7-8C7B-D8B9997CD43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A7BCC281-5B1A-E42F-FA21-9AFB05AED8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48E9EC-C16F-B589-A5AE-0EDC8FA5F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700" y="1803493"/>
            <a:ext cx="6153926" cy="678363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0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40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Hydro-UAI Course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CEC0323-6869-348B-85A8-CB235E17DE29}"/>
              </a:ext>
            </a:extLst>
          </p:cNvPr>
          <p:cNvSpPr>
            <a:spLocks noGrp="1"/>
          </p:cNvSpPr>
          <p:nvPr/>
        </p:nvSpPr>
        <p:spPr>
          <a:xfrm>
            <a:off x="453676" y="2590800"/>
            <a:ext cx="6153912" cy="11049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15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i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Escola de Verão 2026</a:t>
            </a:r>
          </a:p>
          <a:p>
            <a:pPr algn="l">
              <a:buNone/>
              <a:defRPr sz="15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i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Inteligência Artificial Aplicada</a:t>
            </a:r>
          </a:p>
          <a:p>
            <a:pPr algn="l">
              <a:buNone/>
              <a:defRPr sz="15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i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 Recursos Hídricos</a:t>
            </a:r>
          </a:p>
        </p:txBody>
      </p:sp>
      <p:pic>
        <p:nvPicPr>
          <p:cNvPr id="2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pic>
        <p:nvPicPr>
          <p:cNvPr id="29" name="Imagem 13"/>
          <p:cNvPicPr>
            <a:picLocks noChangeAspect="1"/>
          </p:cNvPicPr>
          <p:nvPr/>
        </p:nvPicPr>
        <p:blipFill>
          <a:blip r:embed="rId4"/>
          <a:srcRect l="3570" r="8084" b="18195"/>
          <a:stretch>
            <a:fillRect/>
          </a:stretch>
        </p:blipFill>
        <p:spPr>
          <a:xfrm>
            <a:off x="447287" y="5924579"/>
            <a:ext cx="592780" cy="523392"/>
          </a:xfrm>
          <a:prstGeom prst="rect">
            <a:avLst/>
          </a:prstGeom>
        </p:spPr>
      </p:pic>
      <p:pic>
        <p:nvPicPr>
          <p:cNvPr id="30" name="Imagem 15"/>
          <p:cNvPicPr>
            <a:picLocks noChangeAspect="1"/>
          </p:cNvPicPr>
          <p:nvPr/>
        </p:nvPicPr>
        <p:blipFill>
          <a:blip r:embed="rId5"/>
          <a:srcRect l="1924" t="7917" r="1239" b="5183"/>
          <a:stretch>
            <a:fillRect/>
          </a:stretch>
        </p:blipFill>
        <p:spPr>
          <a:xfrm>
            <a:off x="453700" y="410029"/>
            <a:ext cx="1080460" cy="374888"/>
          </a:xfrm>
          <a:prstGeom prst="rect">
            <a:avLst/>
          </a:prstGeom>
        </p:spPr>
      </p:pic>
      <p:sp>
        <p:nvSpPr>
          <p:cNvPr id="4" name="Conector reto 3">
            <a:extLst>
              <a:ext uri="{FF2B5EF4-FFF2-40B4-BE49-F238E27FC236}">
                <a16:creationId xmlns:a16="http://schemas.microsoft.com/office/drawing/2014/main" id="{474D5E31-5089-407C-9BEF-DB43375AB890}"/>
              </a:ext>
            </a:extLst>
          </p:cNvPr>
          <p:cNvSpPr>
            <a:spLocks noGrp="1"/>
          </p:cNvSpPr>
          <p:nvPr/>
        </p:nvSpPr>
        <p:spPr>
          <a:xfrm>
            <a:off x="7048500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F3E776DE-6AF7-7DB4-C3A0-AEE51174A755}"/>
              </a:ext>
            </a:extLst>
          </p:cNvPr>
          <p:cNvSpPr>
            <a:spLocks noGrp="1"/>
          </p:cNvSpPr>
          <p:nvPr/>
        </p:nvSpPr>
        <p:spPr>
          <a:xfrm>
            <a:off x="453700" y="4285349"/>
            <a:ext cx="6153926" cy="149293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André Ferreira Rodrigues</a:t>
            </a:r>
          </a:p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Bruno Melo Brentan</a:t>
            </a:r>
          </a:p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Rodrigo Perdigão</a:t>
            </a:r>
          </a:p>
        </p:txBody>
      </p:sp>
      <p:sp>
        <p:nvSpPr>
          <p:cNvPr id="21" name="dia-3">
            <a:extLst>
              <a:ext uri="{FF2B5EF4-FFF2-40B4-BE49-F238E27FC236}">
                <a16:creationId xmlns:a16="http://schemas.microsoft.com/office/drawing/2014/main" id="{94C3A0CB-1176-4000-AF16-62EF4A8CD29B}"/>
              </a:ext>
            </a:extLst>
          </p:cNvPr>
          <p:cNvSpPr>
            <a:spLocks noGrp="1"/>
          </p:cNvSpPr>
          <p:nvPr/>
        </p:nvSpPr>
        <p:spPr>
          <a:xfrm>
            <a:off x="453676" y="3886200"/>
            <a:ext cx="61531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DIA </a:t>
            </a:r>
            <a:r>
              <a:rPr lang="en-US" sz="135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5</a:t>
            </a:r>
            <a:endParaRPr sz="13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buNone/>
              <a:defRPr sz="1350" b="1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lang="en-US" sz="1350" b="1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Estudos</a:t>
            </a:r>
            <a:r>
              <a:rPr lang="en-US" sz="135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de Caso</a:t>
            </a:r>
            <a:endParaRPr sz="13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04852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A6972ED3-C412-A20D-4C7E-71C742D19B4D}"/>
              </a:ext>
            </a:extLst>
          </p:cNvPr>
          <p:cNvSpPr>
            <a:spLocks noGrp="1"/>
          </p:cNvSpPr>
          <p:nvPr/>
        </p:nvSpPr>
        <p:spPr>
          <a:xfrm>
            <a:off x="0" y="-55204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A56C7E-3FB6-DC6C-5ACF-3E07B98CF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6333257"/>
            <a:ext cx="10667998" cy="233267"/>
          </a:xfrm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4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Hydro-UAI Course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17C2609-8823-4BF1-FFAA-18350030CA5B}"/>
              </a:ext>
            </a:extLst>
          </p:cNvPr>
          <p:cNvSpPr>
            <a:spLocks noGrp="1"/>
          </p:cNvSpPr>
          <p:nvPr/>
        </p:nvSpPr>
        <p:spPr>
          <a:xfrm>
            <a:off x="5543548" y="903199"/>
            <a:ext cx="6194741" cy="48558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24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lang="en-US" sz="2400" dirty="0" err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Aplicações</a:t>
            </a:r>
            <a:r>
              <a:rPr lang="en-US" sz="2400" dirty="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Práticas</a:t>
            </a:r>
            <a:endParaRPr sz="2400" dirty="0">
              <a:solidFill>
                <a:srgbClr val="FFFFFF"/>
              </a:solidFill>
              <a:latin typeface="JetBrains Mono ExtraBold"/>
              <a:ea typeface="JetBrains Mono ExtraBold"/>
              <a:cs typeface="JetBrains Mono ExtraBold"/>
            </a:endParaRPr>
          </a:p>
        </p:txBody>
      </p:sp>
      <p:pic>
        <p:nvPicPr>
          <p:cNvPr id="50" name="Imagem 13"/>
          <p:cNvPicPr>
            <a:picLocks noChangeAspect="1"/>
          </p:cNvPicPr>
          <p:nvPr/>
        </p:nvPicPr>
        <p:blipFill>
          <a:blip r:embed="rId3"/>
          <a:srcRect l="3570" r="8084" b="18195"/>
          <a:stretch>
            <a:fillRect/>
          </a:stretch>
        </p:blipFill>
        <p:spPr>
          <a:xfrm>
            <a:off x="11429999" y="6294313"/>
            <a:ext cx="308300" cy="272211"/>
          </a:xfrm>
          <a:prstGeom prst="rect">
            <a:avLst/>
          </a:prstGeom>
        </p:spPr>
      </p:pic>
      <p:pic>
        <p:nvPicPr>
          <p:cNvPr id="51" name="Imagem 27"/>
          <p:cNvPicPr>
            <a:picLocks noChangeAspect="1"/>
          </p:cNvPicPr>
          <p:nvPr/>
        </p:nvPicPr>
        <p:blipFill>
          <a:blip r:embed="rId4"/>
          <a:srcRect l="2737"/>
          <a:stretch>
            <a:fillRect/>
          </a:stretch>
        </p:blipFill>
        <p:spPr>
          <a:xfrm>
            <a:off x="0" y="0"/>
            <a:ext cx="5002751" cy="6858000"/>
          </a:xfrm>
          <a:prstGeom prst="rect">
            <a:avLst/>
          </a:prstGeom>
        </p:spPr>
      </p:pic>
      <p:sp>
        <p:nvSpPr>
          <p:cNvPr id="26" name="Conector reto 25">
            <a:extLst>
              <a:ext uri="{FF2B5EF4-FFF2-40B4-BE49-F238E27FC236}">
                <a16:creationId xmlns:a16="http://schemas.microsoft.com/office/drawing/2014/main" id="{24253C31-1647-4B5D-B85D-91D78591B4FC}"/>
              </a:ext>
            </a:extLst>
          </p:cNvPr>
          <p:cNvSpPr>
            <a:spLocks noGrp="1"/>
          </p:cNvSpPr>
          <p:nvPr/>
        </p:nvSpPr>
        <p:spPr>
          <a:xfrm>
            <a:off x="5006472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agenda-num-0">
            <a:extLst>
              <a:ext uri="{FF2B5EF4-FFF2-40B4-BE49-F238E27FC236}">
                <a16:creationId xmlns:a16="http://schemas.microsoft.com/office/drawing/2014/main" id="{1871957E-2097-46C0-A592-4E16B31CBCDB}"/>
              </a:ext>
            </a:extLst>
          </p:cNvPr>
          <p:cNvSpPr>
            <a:spLocks noGrp="1"/>
          </p:cNvSpPr>
          <p:nvPr/>
        </p:nvSpPr>
        <p:spPr>
          <a:xfrm>
            <a:off x="5543550" y="2471144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lang="en-US"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2</a:t>
            </a:r>
            <a:endParaRPr sz="1650" b="1" i="0" dirty="0">
              <a:solidFill>
                <a:srgbClr val="83DFF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38" name="agenda-0">
            <a:extLst>
              <a:ext uri="{FF2B5EF4-FFF2-40B4-BE49-F238E27FC236}">
                <a16:creationId xmlns:a16="http://schemas.microsoft.com/office/drawing/2014/main" id="{D15AD499-A029-47FC-AE4C-C5F46AF4C3FF}"/>
              </a:ext>
            </a:extLst>
          </p:cNvPr>
          <p:cNvSpPr>
            <a:spLocks noGrp="1"/>
          </p:cNvSpPr>
          <p:nvPr/>
        </p:nvSpPr>
        <p:spPr>
          <a:xfrm>
            <a:off x="5543550" y="2852144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Previsão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Hidrológica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para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Trânsito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de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Cheias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(UHE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Três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Marias)</a:t>
            </a:r>
            <a:endParaRPr sz="1500" b="0" i="0" dirty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39" name="agenda-num-1">
            <a:extLst>
              <a:ext uri="{FF2B5EF4-FFF2-40B4-BE49-F238E27FC236}">
                <a16:creationId xmlns:a16="http://schemas.microsoft.com/office/drawing/2014/main" id="{2F7AF05D-61E1-4B35-B700-67688CC3E30C}"/>
              </a:ext>
            </a:extLst>
          </p:cNvPr>
          <p:cNvSpPr>
            <a:spLocks noGrp="1"/>
          </p:cNvSpPr>
          <p:nvPr/>
        </p:nvSpPr>
        <p:spPr>
          <a:xfrm>
            <a:off x="5543550" y="3423644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lang="en-US"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3</a:t>
            </a:r>
            <a:endParaRPr sz="1650" b="1" i="0" dirty="0">
              <a:solidFill>
                <a:srgbClr val="83DFF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40" name="agenda-1">
            <a:extLst>
              <a:ext uri="{FF2B5EF4-FFF2-40B4-BE49-F238E27FC236}">
                <a16:creationId xmlns:a16="http://schemas.microsoft.com/office/drawing/2014/main" id="{7F7C9683-D498-4BFA-A453-4FF009AE10DE}"/>
              </a:ext>
            </a:extLst>
          </p:cNvPr>
          <p:cNvSpPr>
            <a:spLocks noGrp="1"/>
          </p:cNvSpPr>
          <p:nvPr/>
        </p:nvSpPr>
        <p:spPr>
          <a:xfrm>
            <a:off x="5543550" y="3804644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Levantamento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de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Impactos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de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Alagamentos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(Belo Horizonte)</a:t>
            </a:r>
            <a:endParaRPr sz="1500" b="0" i="0" dirty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41" name="agenda-num-2">
            <a:extLst>
              <a:ext uri="{FF2B5EF4-FFF2-40B4-BE49-F238E27FC236}">
                <a16:creationId xmlns:a16="http://schemas.microsoft.com/office/drawing/2014/main" id="{E48CD7F7-03C4-4F75-BE6B-B2CFA121D17B}"/>
              </a:ext>
            </a:extLst>
          </p:cNvPr>
          <p:cNvSpPr>
            <a:spLocks noGrp="1"/>
          </p:cNvSpPr>
          <p:nvPr/>
        </p:nvSpPr>
        <p:spPr>
          <a:xfrm>
            <a:off x="5543550" y="4376144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lang="en-US"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4</a:t>
            </a:r>
            <a:endParaRPr sz="1650" b="1" i="0" dirty="0">
              <a:solidFill>
                <a:srgbClr val="83DFF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42" name="agenda-2">
            <a:extLst>
              <a:ext uri="{FF2B5EF4-FFF2-40B4-BE49-F238E27FC236}">
                <a16:creationId xmlns:a16="http://schemas.microsoft.com/office/drawing/2014/main" id="{5F99C25D-EDE6-4F87-87A1-1D0DEFDC6752}"/>
              </a:ext>
            </a:extLst>
          </p:cNvPr>
          <p:cNvSpPr>
            <a:spLocks noGrp="1"/>
          </p:cNvSpPr>
          <p:nvPr/>
        </p:nvSpPr>
        <p:spPr>
          <a:xfrm>
            <a:off x="5543550" y="4757144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Sistema de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Previsão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de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Inundação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Baseado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em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lang="en-US" sz="1500" b="0" i="0" dirty="0" err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Impactos</a:t>
            </a:r>
            <a:r>
              <a:rPr lang="en-US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 (Piracicaba) </a:t>
            </a:r>
            <a:endParaRPr sz="1500" b="0" i="0" dirty="0">
              <a:solidFill>
                <a:srgbClr val="FFFFF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4" name="agenda-num-0">
            <a:extLst>
              <a:ext uri="{FF2B5EF4-FFF2-40B4-BE49-F238E27FC236}">
                <a16:creationId xmlns:a16="http://schemas.microsoft.com/office/drawing/2014/main" id="{C8F3E463-6157-AF42-B82D-A273F60CA84D}"/>
              </a:ext>
            </a:extLst>
          </p:cNvPr>
          <p:cNvSpPr>
            <a:spLocks noGrp="1"/>
          </p:cNvSpPr>
          <p:nvPr/>
        </p:nvSpPr>
        <p:spPr>
          <a:xfrm>
            <a:off x="5543548" y="1671044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i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lang="en-US" sz="1650" b="1" i="0" dirty="0">
                <a:solidFill>
                  <a:srgbClr val="83DFFF"/>
                </a:solidFill>
                <a:latin typeface="JetBrains Mono"/>
                <a:ea typeface="JetBrains Mono"/>
                <a:cs typeface="JetBrains Mono"/>
              </a:rPr>
              <a:t>1</a:t>
            </a:r>
            <a:endParaRPr sz="1650" b="1" i="0" dirty="0">
              <a:solidFill>
                <a:srgbClr val="83DFF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7" name="agenda-0">
            <a:extLst>
              <a:ext uri="{FF2B5EF4-FFF2-40B4-BE49-F238E27FC236}">
                <a16:creationId xmlns:a16="http://schemas.microsoft.com/office/drawing/2014/main" id="{AB10A331-AD3F-0DF9-3D49-73CB8108F127}"/>
              </a:ext>
            </a:extLst>
          </p:cNvPr>
          <p:cNvSpPr>
            <a:spLocks noGrp="1"/>
          </p:cNvSpPr>
          <p:nvPr/>
        </p:nvSpPr>
        <p:spPr>
          <a:xfrm>
            <a:off x="5543548" y="2052044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lang="pt-BR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Previsão Hidrológica para Geração de Energia (UHE Três Marias)</a:t>
            </a:r>
          </a:p>
        </p:txBody>
      </p:sp>
    </p:spTree>
    <p:extLst>
      <p:ext uri="{BB962C8B-B14F-4D97-AF65-F5344CB8AC3E}">
        <p14:creationId xmlns:p14="http://schemas.microsoft.com/office/powerpoint/2010/main" val="83490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5EE9F-3778-B1A0-67BD-B91A3061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3DEC1-BCC7-E6EF-5333-BDFF6A682E4E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45FEC-A7AA-D91B-D97E-F9A00D2DB4F5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Previsão Hidrológica para Geração de Energia (UHE Três Marias)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618C656-2D08-9101-03F1-9345ABCDD495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FCC09CD-B301-3EDD-41D4-7B29FCE82BB3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082429-DF7C-85EF-F96E-7DBDA656BF13}"/>
              </a:ext>
            </a:extLst>
          </p:cNvPr>
          <p:cNvSpPr/>
          <p:nvPr/>
        </p:nvSpPr>
        <p:spPr>
          <a:xfrm>
            <a:off x="640080" y="1641455"/>
            <a:ext cx="3291840" cy="2697339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81ADC-E6DA-C7D3-5D3D-34F240F2F9BF}"/>
              </a:ext>
            </a:extLst>
          </p:cNvPr>
          <p:cNvSpPr txBox="1"/>
          <p:nvPr/>
        </p:nvSpPr>
        <p:spPr>
          <a:xfrm>
            <a:off x="868680" y="1758778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Aptos"/>
              </a:rPr>
              <a:t>Problema 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BE3B74-8684-2FFE-9869-7A77BA2B447F}"/>
              </a:ext>
            </a:extLst>
          </p:cNvPr>
          <p:cNvSpPr txBox="1"/>
          <p:nvPr/>
        </p:nvSpPr>
        <p:spPr>
          <a:xfrm>
            <a:off x="731520" y="2211130"/>
            <a:ext cx="3017520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 geração hidrelétrica depende diretamente da disponibilidade de água no reservatório.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 vazão afluente futura não é conhecida no momento da operação.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Antecipar essa vazão pode apoiar decisões de operação e planejamento.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24C6FE-9F4A-F8DA-62F8-881D365B9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164" y="2124538"/>
            <a:ext cx="5866888" cy="39088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ounded Rectangle 6">
                <a:extLst>
                  <a:ext uri="{FF2B5EF4-FFF2-40B4-BE49-F238E27FC236}">
                    <a16:creationId xmlns:a16="http://schemas.microsoft.com/office/drawing/2014/main" id="{1AE22B71-2669-83C8-9D54-46ED23F9F559}"/>
                  </a:ext>
                </a:extLst>
              </p:cNvPr>
              <p:cNvSpPr/>
              <p:nvPr/>
            </p:nvSpPr>
            <p:spPr>
              <a:xfrm>
                <a:off x="594360" y="4573779"/>
                <a:ext cx="3291840" cy="453795"/>
              </a:xfrm>
              <a:prstGeom prst="roundRect">
                <a:avLst/>
              </a:prstGeom>
              <a:solidFill>
                <a:srgbClr val="0C2B4B"/>
              </a:solidFill>
              <a:ln>
                <a:solidFill>
                  <a:srgbClr val="0C2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𝜂</m:t>
                      </m:r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sSub>
                        <m:sSubPr>
                          <m:ctrlP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turb</m:t>
                          </m:r>
                        </m:sub>
                      </m:sSub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sSub>
                        <m:sSubPr>
                          <m:ctrlP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liq</m:t>
                          </m:r>
                        </m:sub>
                      </m:sSub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" name="Rounded Rectangle 6">
                <a:extLst>
                  <a:ext uri="{FF2B5EF4-FFF2-40B4-BE49-F238E27FC236}">
                    <a16:creationId xmlns:a16="http://schemas.microsoft.com/office/drawing/2014/main" id="{1AE22B71-2669-83C8-9D54-46ED23F9F5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4573779"/>
                <a:ext cx="3291840" cy="45379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C2B4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436AFE-115E-2573-48DE-27BA710C4A7D}"/>
                  </a:ext>
                </a:extLst>
              </p:cNvPr>
              <p:cNvSpPr txBox="1"/>
              <p:nvPr/>
            </p:nvSpPr>
            <p:spPr>
              <a:xfrm>
                <a:off x="301118" y="5105590"/>
                <a:ext cx="6725852" cy="143231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R="0" lvl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pt-B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8FC"/>
                    </a:solidFill>
                    <a:effectLst/>
                    <a:uLnTx/>
                    <a:uFillTx/>
                    <a:latin typeface="Aptos"/>
                  </a:rPr>
                  <a:t>P: potência gerada (W);</a:t>
                </a:r>
              </a:p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lang="en-US" sz="12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2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0" lang="pt-B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8FC"/>
                    </a:solidFill>
                    <a:effectLst/>
                    <a:uLnTx/>
                    <a:uFillTx/>
                    <a:latin typeface="Aptos"/>
                  </a:rPr>
                  <a:t>rendimento global do conjunto turbina-gerador;</a:t>
                </a:r>
              </a:p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lang="en-US" sz="12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2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8FC"/>
                    </a:solidFill>
                    <a:effectLst/>
                    <a:uLnTx/>
                    <a:uFillTx/>
                    <a:latin typeface="Aptos"/>
                  </a:rPr>
                  <a:t>: massa específica da água (1.000 kg/m³);</a:t>
                </a:r>
              </a:p>
              <a:p>
                <a:pPr marR="0" lvl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pt-BR" sz="1200" dirty="0">
                    <a:solidFill>
                      <a:srgbClr val="F5F8FC"/>
                    </a:solidFill>
                    <a:latin typeface="Aptos"/>
                  </a:rPr>
                  <a:t>g</a:t>
                </a:r>
                <a:r>
                  <a:rPr kumimoji="0" lang="pt-B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8FC"/>
                    </a:solidFill>
                    <a:effectLst/>
                    <a:uLnTx/>
                    <a:uFillTx/>
                    <a:latin typeface="Aptos"/>
                  </a:rPr>
                  <a:t>: aceleração da gravidade (9,81 m/s²);</a:t>
                </a:r>
              </a:p>
              <a:p>
                <a:pPr lvl="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turb</m:t>
                        </m:r>
                      </m:sub>
                    </m:sSub>
                    <m:r>
                      <a:rPr lang="en-US" sz="12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8FC"/>
                    </a:solidFill>
                    <a:effectLst/>
                    <a:uLnTx/>
                    <a:uFillTx/>
                    <a:latin typeface="Aptos"/>
                  </a:rPr>
                  <a:t>: vazão turbinada (m³/s);</a:t>
                </a:r>
              </a:p>
              <a:p>
                <a:pPr lvl="0">
                  <a:defRPr/>
                </a:pPr>
                <a:r>
                  <a:rPr lang="en-US" sz="12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liq</m:t>
                        </m:r>
                      </m:sub>
                    </m:sSub>
                    <m:r>
                      <a:rPr lang="en-US" sz="12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5F8FC"/>
                    </a:solidFill>
                    <a:effectLst/>
                    <a:uLnTx/>
                    <a:uFillTx/>
                    <a:latin typeface="Aptos"/>
                  </a:rPr>
                  <a:t>: queda líquida disponível (m).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8FC"/>
                  </a:solidFill>
                  <a:effectLst/>
                  <a:uLnTx/>
                  <a:uFillTx/>
                  <a:latin typeface="Aptos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436AFE-115E-2573-48DE-27BA710C4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18" y="5105590"/>
                <a:ext cx="6725852" cy="1432315"/>
              </a:xfrm>
              <a:prstGeom prst="rect">
                <a:avLst/>
              </a:prstGeom>
              <a:blipFill>
                <a:blip r:embed="rId4"/>
                <a:stretch>
                  <a:fillRect t="-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912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371C0-B106-F10A-2EB4-39FDF324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ACAC11-B787-16FB-5AAB-E85938D6C714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5088E-B8FF-A17A-1E9C-6D82E0917EDF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Previsão Hidrológica para Geração de Energia (UHE Três Marias)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CEDB0EF-0852-28AC-C831-E3F5AE5CF289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53071C-AD6D-FD56-4D8D-F613C3F1662B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16434F-4B81-2258-912C-4EAB4068C01F}"/>
              </a:ext>
            </a:extLst>
          </p:cNvPr>
          <p:cNvSpPr/>
          <p:nvPr/>
        </p:nvSpPr>
        <p:spPr>
          <a:xfrm>
            <a:off x="640080" y="1641455"/>
            <a:ext cx="3557568" cy="3698639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94F6BE-0457-B147-364A-2E0A244E93B3}"/>
              </a:ext>
            </a:extLst>
          </p:cNvPr>
          <p:cNvSpPr txBox="1"/>
          <p:nvPr/>
        </p:nvSpPr>
        <p:spPr>
          <a:xfrm>
            <a:off x="868680" y="1758778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Aptos"/>
              </a:rPr>
              <a:t>Premissas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A29388-B9DB-3150-0FF4-B1384398AFD9}"/>
                  </a:ext>
                </a:extLst>
              </p:cNvPr>
              <p:cNvSpPr txBox="1"/>
              <p:nvPr/>
            </p:nvSpPr>
            <p:spPr>
              <a:xfrm>
                <a:off x="731520" y="2900675"/>
                <a:ext cx="3017520" cy="224676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 dirty="0" smtClean="0">
                            <a:solidFill>
                              <a:srgbClr val="F5F8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 dirty="0" smtClean="0">
                            <a:solidFill>
                              <a:srgbClr val="F5F8F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1400" i="0" dirty="0" smtClean="0">
                            <a:solidFill>
                              <a:srgbClr val="F5F8FC"/>
                            </a:solidFill>
                            <a:latin typeface="Cambria Math" panose="02040503050406030204" pitchFamily="18" charset="0"/>
                          </a:rPr>
                          <m:t>dia</m:t>
                        </m:r>
                      </m:sub>
                    </m:sSub>
                    <m:r>
                      <a:rPr lang="pt-BR" sz="1400" i="0" dirty="0" smtClean="0">
                        <a:solidFill>
                          <a:srgbClr val="F5F8F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400" i="1" dirty="0" smtClean="0">
                            <a:solidFill>
                              <a:srgbClr val="F5F8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 dirty="0" smtClean="0">
                            <a:solidFill>
                              <a:srgbClr val="F5F8FC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1400" i="0" dirty="0" smtClean="0">
                            <a:solidFill>
                              <a:srgbClr val="F5F8FC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pt-BR" sz="1400" i="0" dirty="0" smtClean="0">
                            <a:solidFill>
                              <a:srgbClr val="F5F8FC"/>
                            </a:solidFill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m:rPr>
                            <m:sty m:val="p"/>
                          </m:rPr>
                          <a:rPr lang="pt-BR" sz="1400" i="0" dirty="0" smtClean="0">
                            <a:solidFill>
                              <a:srgbClr val="F5F8FC"/>
                            </a:solidFill>
                            <a:latin typeface="Cambria Math" panose="02040503050406030204" pitchFamily="18" charset="0"/>
                          </a:rPr>
                          <m:t>dia</m:t>
                        </m:r>
                      </m:sub>
                    </m:sSub>
                    <m:r>
                      <a:rPr lang="pt-BR" sz="1400" i="0" dirty="0" smtClean="0">
                        <a:solidFill>
                          <a:srgbClr val="F5F8FC"/>
                        </a:solidFill>
                        <a:latin typeface="Cambria Math" panose="02040503050406030204" pitchFamily="18" charset="0"/>
                      </a:rPr>
                      <m:t>×24</m:t>
                    </m:r>
                  </m:oMath>
                </a14:m>
                <a:endParaRPr lang="pt-BR" sz="1400" dirty="0">
                  <a:solidFill>
                    <a:srgbClr val="F5F8FC"/>
                  </a:solidFill>
                  <a:latin typeface="Aptos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400" dirty="0">
                    <a:solidFill>
                      <a:srgbClr val="F5F8FC"/>
                    </a:solidFill>
                    <a:latin typeface="Aptos"/>
                  </a:rPr>
                  <a:t>Vazão afluente integralmente turbinada, respeitando os limites da usina.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400" dirty="0">
                    <a:solidFill>
                      <a:srgbClr val="F5F8FC"/>
                    </a:solidFill>
                    <a:latin typeface="Aptos"/>
                  </a:rPr>
                  <a:t>Queda líquida e rendimento global constantes.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400" dirty="0">
                    <a:solidFill>
                      <a:srgbClr val="F5F8FC"/>
                    </a:solidFill>
                    <a:latin typeface="Aptos"/>
                  </a:rPr>
                  <a:t>Potência limitada à capacidade instalada.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sz="1400" dirty="0">
                  <a:solidFill>
                    <a:srgbClr val="F5F8FC"/>
                  </a:solidFill>
                  <a:latin typeface="Aptos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5F8FC"/>
                  </a:solidFill>
                  <a:effectLst/>
                  <a:uLnTx/>
                  <a:uFillTx/>
                  <a:latin typeface="Aptos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A29388-B9DB-3150-0FF4-B1384398A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900675"/>
                <a:ext cx="3017520" cy="2246769"/>
              </a:xfrm>
              <a:prstGeom prst="rect">
                <a:avLst/>
              </a:prstGeom>
              <a:blipFill>
                <a:blip r:embed="rId2"/>
                <a:stretch>
                  <a:fillRect l="-202" r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31FB549-D223-DF87-7B2D-D217A61AC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164" y="2124538"/>
            <a:ext cx="5866888" cy="39088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ounded Rectangle 6">
                <a:extLst>
                  <a:ext uri="{FF2B5EF4-FFF2-40B4-BE49-F238E27FC236}">
                    <a16:creationId xmlns:a16="http://schemas.microsoft.com/office/drawing/2014/main" id="{574FB5EF-31A2-CA10-E6F4-E84A2E8DD134}"/>
                  </a:ext>
                </a:extLst>
              </p:cNvPr>
              <p:cNvSpPr/>
              <p:nvPr/>
            </p:nvSpPr>
            <p:spPr>
              <a:xfrm>
                <a:off x="731520" y="2223833"/>
                <a:ext cx="3386348" cy="451228"/>
              </a:xfrm>
              <a:prstGeom prst="roundRect">
                <a:avLst/>
              </a:prstGeom>
              <a:solidFill>
                <a:srgbClr val="0C2B4B"/>
              </a:solidFill>
              <a:ln>
                <a:solidFill>
                  <a:srgbClr val="0C2B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sz="1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sz="1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gerada</m:t>
                          </m:r>
                        </m:sub>
                      </m:sSub>
                      <m:d>
                        <m:dPr>
                          <m:ctrlPr>
                            <a:rPr kumimoji="0" lang="en-US" sz="1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sz="1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sz="1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1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sz="14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4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𝜂𝜌</m:t>
                                  </m:r>
                                  <m:r>
                                    <a:rPr kumimoji="0" lang="en-US" sz="14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𝑔</m:t>
                                  </m:r>
                                  <m:sSub>
                                    <m:sSubPr>
                                      <m:ctrlP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turb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𝑡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liq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kumimoji="0" lang="en-US" sz="1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6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0" lang="en-US" sz="1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US" sz="14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4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0" lang="en-US" sz="14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inst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" name="Rounded Rectangle 6">
                <a:extLst>
                  <a:ext uri="{FF2B5EF4-FFF2-40B4-BE49-F238E27FC236}">
                    <a16:creationId xmlns:a16="http://schemas.microsoft.com/office/drawing/2014/main" id="{574FB5EF-31A2-CA10-E6F4-E84A2E8DD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223833"/>
                <a:ext cx="3386348" cy="451228"/>
              </a:xfrm>
              <a:prstGeom prst="roundRect">
                <a:avLst/>
              </a:prstGeom>
              <a:blipFill>
                <a:blip r:embed="rId4"/>
                <a:stretch>
                  <a:fillRect t="-1316" b="-2632"/>
                </a:stretch>
              </a:blipFill>
              <a:ln>
                <a:solidFill>
                  <a:srgbClr val="0C2B4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8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D44DF-E5CA-C185-E2D2-69831E256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BDAEE-47C8-CCF8-4EF7-595A69B3FA19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29D88-1690-33E2-42A4-9D7FB47AA85A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Previsão Hidrológica para Geração de Energia (UHE Três Marias)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70C0020-382D-F5B1-F355-B47D70100515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45AE810-53B9-2549-CCDC-0F9B0EB44107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1B89C7-7A92-F378-239D-2A5ACC1316F4}"/>
              </a:ext>
            </a:extLst>
          </p:cNvPr>
          <p:cNvSpPr/>
          <p:nvPr/>
        </p:nvSpPr>
        <p:spPr>
          <a:xfrm>
            <a:off x="640080" y="1641455"/>
            <a:ext cx="4011700" cy="4084283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0C99E-6EC3-94AC-9249-BD550EE14203}"/>
              </a:ext>
            </a:extLst>
          </p:cNvPr>
          <p:cNvSpPr txBox="1"/>
          <p:nvPr/>
        </p:nvSpPr>
        <p:spPr>
          <a:xfrm>
            <a:off x="868680" y="1758778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Aptos"/>
              </a:rPr>
              <a:t>Abordagem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783675-CA48-B117-E9B0-DBE4CD50A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24538"/>
            <a:ext cx="5866888" cy="3908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D6429F-2E13-5496-EC96-53DFA77D0A6E}"/>
              </a:ext>
            </a:extLst>
          </p:cNvPr>
          <p:cNvSpPr txBox="1"/>
          <p:nvPr/>
        </p:nvSpPr>
        <p:spPr>
          <a:xfrm>
            <a:off x="731520" y="2424814"/>
            <a:ext cx="3815932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F5F8FC"/>
                </a:solidFill>
                <a:latin typeface="Aptos"/>
              </a:rPr>
              <a:t>Arquitetura: LSTM recursiva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F5F8FC"/>
                </a:solidFill>
                <a:latin typeface="Aptos"/>
              </a:rPr>
              <a:t>Horizontes de previsão: 1, 2 e 3 dias.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F5F8FC"/>
                </a:solidFill>
                <a:latin typeface="Aptos"/>
              </a:rPr>
              <a:t>Variável de entrada: apenas vazões afluentes antecedentes (modelo </a:t>
            </a:r>
            <a:r>
              <a:rPr lang="pt-BR" sz="1400" dirty="0" err="1">
                <a:solidFill>
                  <a:srgbClr val="F5F8FC"/>
                </a:solidFill>
                <a:latin typeface="Aptos"/>
              </a:rPr>
              <a:t>univariado</a:t>
            </a:r>
            <a:r>
              <a:rPr lang="pt-BR" sz="1400" dirty="0">
                <a:solidFill>
                  <a:srgbClr val="F5F8FC"/>
                </a:solidFill>
                <a:latin typeface="Aptos"/>
              </a:rPr>
              <a:t>).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F5F8FC"/>
                </a:solidFill>
                <a:latin typeface="Aptos"/>
              </a:rPr>
              <a:t>Grid Search: </a:t>
            </a:r>
            <a:r>
              <a:rPr lang="pt-BR" sz="1400" dirty="0" err="1">
                <a:solidFill>
                  <a:srgbClr val="F5F8FC"/>
                </a:solidFill>
                <a:latin typeface="Aptos"/>
              </a:rPr>
              <a:t>hiperparâmetros</a:t>
            </a:r>
            <a:r>
              <a:rPr lang="pt-BR" sz="1400" dirty="0">
                <a:solidFill>
                  <a:srgbClr val="F5F8FC"/>
                </a:solidFill>
                <a:latin typeface="Aptos"/>
              </a:rPr>
              <a:t> da rede e do tamanho da janela antecedente (</a:t>
            </a:r>
            <a:r>
              <a:rPr lang="pt-BR" sz="1400" dirty="0" err="1">
                <a:solidFill>
                  <a:srgbClr val="F5F8FC"/>
                </a:solidFill>
                <a:latin typeface="Aptos"/>
              </a:rPr>
              <a:t>past</a:t>
            </a:r>
            <a:r>
              <a:rPr lang="pt-BR" sz="1400" dirty="0">
                <a:solidFill>
                  <a:srgbClr val="F5F8FC"/>
                </a:solidFill>
                <a:latin typeface="Aptos"/>
              </a:rPr>
              <a:t> </a:t>
            </a:r>
            <a:r>
              <a:rPr lang="pt-BR" sz="1400" dirty="0" err="1">
                <a:solidFill>
                  <a:srgbClr val="F5F8FC"/>
                </a:solidFill>
                <a:latin typeface="Aptos"/>
              </a:rPr>
              <a:t>window</a:t>
            </a:r>
            <a:r>
              <a:rPr lang="pt-BR" sz="1400" dirty="0">
                <a:solidFill>
                  <a:srgbClr val="F5F8FC"/>
                </a:solidFill>
                <a:latin typeface="Aptos"/>
              </a:rPr>
              <a:t>).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F5F8FC"/>
                </a:solidFill>
                <a:latin typeface="Aptos"/>
              </a:rPr>
              <a:t>Taxa de aprendizado adaptativa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F5F8FC"/>
                </a:solidFill>
                <a:latin typeface="Aptos"/>
              </a:rPr>
              <a:t>Early </a:t>
            </a:r>
            <a:r>
              <a:rPr lang="pt-BR" sz="1400" dirty="0" err="1">
                <a:solidFill>
                  <a:srgbClr val="F5F8FC"/>
                </a:solidFill>
                <a:latin typeface="Aptos"/>
              </a:rPr>
              <a:t>Stopping</a:t>
            </a:r>
            <a:endParaRPr lang="en-US" sz="1400" dirty="0">
              <a:solidFill>
                <a:srgbClr val="F5F8FC"/>
              </a:solidFill>
              <a:latin typeface="Aptos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48026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0AB88-6C09-D9F5-618A-5FB77D85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D13F8-4CE2-452F-D7B4-4AC9A8BFA8FC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3F886-3AC6-8EE1-DE00-ADA22C1ADB8F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Previsão Hidrológica para Trânsito de Cheias (UHE Três Marias)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529BF94-9B61-5FD9-12FC-4C4870DF4BD1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65722AD-6814-E115-A87E-855780139B8A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CDD145-6E73-348E-A426-F5C725D80F61}"/>
              </a:ext>
            </a:extLst>
          </p:cNvPr>
          <p:cNvSpPr/>
          <p:nvPr/>
        </p:nvSpPr>
        <p:spPr>
          <a:xfrm>
            <a:off x="640079" y="1641455"/>
            <a:ext cx="3846003" cy="2697339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3608D-017E-4F29-6535-CB58441C782C}"/>
              </a:ext>
            </a:extLst>
          </p:cNvPr>
          <p:cNvSpPr txBox="1"/>
          <p:nvPr/>
        </p:nvSpPr>
        <p:spPr>
          <a:xfrm>
            <a:off x="868680" y="1758778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Aptos"/>
              </a:rPr>
              <a:t>Problema 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9EFBD2-9A2A-C0A2-9AE8-260A206D0130}"/>
              </a:ext>
            </a:extLst>
          </p:cNvPr>
          <p:cNvSpPr txBox="1"/>
          <p:nvPr/>
        </p:nvSpPr>
        <p:spPr>
          <a:xfrm>
            <a:off x="731519" y="2211130"/>
            <a:ext cx="3484539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Fornecer previsões que auxiliem na operação antecipada de reservatórios, permitindo ampliar o volume disponível para amortecimento de cheias.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Representar os processos de translação e amortecimento dos hidrogramas.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AFD397-7931-D10C-0CA3-BCF24CE1C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924" y="2452795"/>
            <a:ext cx="5557997" cy="312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17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5FE02-16A4-5281-DD91-EB3110806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B3874A-461B-8996-6D5D-4ABFCBADA3E3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CA875-C3BF-685E-4592-C31654AB803F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Previsão Hidrológica para Trânsito de Cheias (UHE Três Marias)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EFA3018F-18CC-6652-34FA-F04DB500ACF3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7379FF-C6CF-11A0-46CC-F69DE7ECF43E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86B015A-94BF-6327-9347-69BE817171A3}"/>
              </a:ext>
            </a:extLst>
          </p:cNvPr>
          <p:cNvSpPr/>
          <p:nvPr/>
        </p:nvSpPr>
        <p:spPr>
          <a:xfrm>
            <a:off x="640079" y="1641455"/>
            <a:ext cx="3846003" cy="2789396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DCD360-3F66-E85B-AE9B-5DCB963E766C}"/>
              </a:ext>
            </a:extLst>
          </p:cNvPr>
          <p:cNvSpPr txBox="1"/>
          <p:nvPr/>
        </p:nvSpPr>
        <p:spPr>
          <a:xfrm>
            <a:off x="868680" y="1758778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Aptos"/>
              </a:rPr>
              <a:t>Premissas 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A2C975-98A3-C701-7849-26146DBFCF17}"/>
              </a:ext>
            </a:extLst>
          </p:cNvPr>
          <p:cNvSpPr txBox="1"/>
          <p:nvPr/>
        </p:nvSpPr>
        <p:spPr>
          <a:xfrm>
            <a:off x="731519" y="2211130"/>
            <a:ext cx="3484539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Nível de água inicial variável, permitindo avaliar diferentes condições de armazenamento do reservatório.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Trânsito de cheias representado pelo método de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Puls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modificado.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Curvas cota–volume e cota–descarga do reservatório previamente conhecidas.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BE0ACA-8BEB-25DC-865E-8769DA546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924" y="2452795"/>
            <a:ext cx="5557997" cy="312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84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9C959-A1CF-916D-EDEC-17385B95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276D2-6DA9-F728-71DF-A610F892C5A8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FF336-423C-4B06-8D05-1DF2ACD2F8A5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Previsão Hidrológica para Trânsito de Cheias (UHE Três Marias)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27830A5-55B1-459A-598E-3985E8474644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B6ADF5-FAD5-3474-FC20-A55C046DF55A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A52075-08C1-4F9E-6D2D-FF73FBCC4C7A}"/>
              </a:ext>
            </a:extLst>
          </p:cNvPr>
          <p:cNvSpPr/>
          <p:nvPr/>
        </p:nvSpPr>
        <p:spPr>
          <a:xfrm>
            <a:off x="640079" y="1641455"/>
            <a:ext cx="3846003" cy="3507416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F51ADB-3B28-CCC1-751C-D49536014FF9}"/>
              </a:ext>
            </a:extLst>
          </p:cNvPr>
          <p:cNvSpPr txBox="1"/>
          <p:nvPr/>
        </p:nvSpPr>
        <p:spPr>
          <a:xfrm>
            <a:off x="868680" y="1758778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Aptos"/>
              </a:rPr>
              <a:t>Abordagem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75C753-D278-CE25-5C56-1CEFBA8B1742}"/>
              </a:ext>
            </a:extLst>
          </p:cNvPr>
          <p:cNvSpPr txBox="1"/>
          <p:nvPr/>
        </p:nvSpPr>
        <p:spPr>
          <a:xfrm>
            <a:off x="731519" y="2211130"/>
            <a:ext cx="3484539" cy="31085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LSTM não recursiva, com previsões diretas para cada horizonte de antecedência.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N modelos independentes, sendo um modelo específico para cada horizonte de previsão.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Grid Search para otimização dos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hiperparâmetros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e da janela antecedente (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past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window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).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Learning Rate adaptativo e Early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Stopping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para otimização do treinamento.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115837-4E94-0C55-68E4-88BCE924E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924" y="2452795"/>
            <a:ext cx="5557997" cy="312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67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50500-EB24-3E2E-CA36-A3ABD575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93A473-B6AD-E05C-458A-35D8E2B53CA6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65FEE-B299-06DB-C44B-B83CF2026853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Levantamento de Impactos de Alagamentos (Belo Horizonte)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B877CA0-A460-C56D-B9E4-7DF58DCA0996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BA832F-0E4D-7F12-D5B6-98F647C73F8D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FA94DC7-6DF0-B5BD-FF4C-9E387CEEDFC1}"/>
              </a:ext>
            </a:extLst>
          </p:cNvPr>
          <p:cNvSpPr/>
          <p:nvPr/>
        </p:nvSpPr>
        <p:spPr>
          <a:xfrm>
            <a:off x="640079" y="2498272"/>
            <a:ext cx="4300136" cy="2955092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3D7C02-BFD8-7C3A-9782-27B5698EC040}"/>
              </a:ext>
            </a:extLst>
          </p:cNvPr>
          <p:cNvSpPr txBox="1"/>
          <p:nvPr/>
        </p:nvSpPr>
        <p:spPr>
          <a:xfrm>
            <a:off x="868680" y="2615595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00C9FF"/>
                </a:solidFill>
              </a:rPr>
              <a:t>Problema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8C92E4-F2D0-8B57-EAF6-27FF076C23CE}"/>
              </a:ext>
            </a:extLst>
          </p:cNvPr>
          <p:cNvSpPr txBox="1"/>
          <p:nvPr/>
        </p:nvSpPr>
        <p:spPr>
          <a:xfrm>
            <a:off x="731519" y="3067947"/>
            <a:ext cx="4263928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Estudos hidrológicos e hidráulicos demandam dados de  impactos para validação dos resultados.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Escassez de bases históricas sistematizadas de impactos disponibilizadas por órgãos governamentais.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Necessidade de compreender os limiares de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forçantes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hidrometeorológicas associados à ocorrência de alagamentos e seus impactos.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12" name="Google Shape;124;p3" descr="High Resolution Flood Photos, Download The BEST Free High Resolution ...">
            <a:extLst>
              <a:ext uri="{FF2B5EF4-FFF2-40B4-BE49-F238E27FC236}">
                <a16:creationId xmlns:a16="http://schemas.microsoft.com/office/drawing/2014/main" id="{9F22056D-250D-7227-FB20-66401169EB0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20312" y="2317316"/>
            <a:ext cx="5440170" cy="3626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032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23EDB-C03A-34AE-A1DA-FAF8D966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EAC314-ED0B-4DFC-5C8B-8BE52218767A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BFF4F-B958-0030-5770-CA485DEF9FCD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Levantamento de Impactos de Alagamentos (Belo Horizonte)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F094DB1-53BF-64A3-9150-075FFD32EEEB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1BA97F-6DE1-096D-78B3-A95D235AC5A9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2E30DF-78B6-002D-75AF-05AE84E970D8}"/>
              </a:ext>
            </a:extLst>
          </p:cNvPr>
          <p:cNvSpPr/>
          <p:nvPr/>
        </p:nvSpPr>
        <p:spPr>
          <a:xfrm>
            <a:off x="640079" y="2390551"/>
            <a:ext cx="4355368" cy="3114651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DF6FE-3DC3-45F0-55CC-8AB87DEF12B5}"/>
              </a:ext>
            </a:extLst>
          </p:cNvPr>
          <p:cNvSpPr txBox="1"/>
          <p:nvPr/>
        </p:nvSpPr>
        <p:spPr>
          <a:xfrm>
            <a:off x="868680" y="2507874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00C9FF"/>
                </a:solidFill>
              </a:rPr>
              <a:t>Abordagem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9CA8B-CD34-ED07-F8F6-77A28C9BA0DD}"/>
              </a:ext>
            </a:extLst>
          </p:cNvPr>
          <p:cNvSpPr txBox="1"/>
          <p:nvPr/>
        </p:nvSpPr>
        <p:spPr>
          <a:xfrm>
            <a:off x="731519" y="2960226"/>
            <a:ext cx="4263928" cy="2677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Google News: busca automatizada de notícias por palavras-chave, localização e período.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Python: coleta, organização e remoção de registros duplicados.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Ollama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(LLM local): interpretação dos textos e extração de informações sobre ocorrências e impactos.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Classificação: identificação de locais, datas, fenômenos e tipos de impactos reportados.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0D558D-BB32-24B7-4772-F23FCC9E6C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012"/>
          <a:stretch>
            <a:fillRect/>
          </a:stretch>
        </p:blipFill>
        <p:spPr>
          <a:xfrm>
            <a:off x="5174952" y="2980106"/>
            <a:ext cx="6802154" cy="206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86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F2B79-F274-75F6-F685-1B6B9CD3C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50FAE-C46F-73F5-9265-00C836378BD5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1504DD-260D-79B0-02CC-52F63436DF82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Sistema de Previsão de Inundação Baseado em Impactos (Piracicaba) 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E85AF4E6-09B8-ED10-A2B2-569B3A49FC9F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CF0940-AA21-B6D4-4370-DD57CA7EADB0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9374C7-5381-80E4-A569-0C9A0D8AE2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9" r="9016"/>
          <a:stretch>
            <a:fillRect/>
          </a:stretch>
        </p:blipFill>
        <p:spPr>
          <a:xfrm>
            <a:off x="6440487" y="1517904"/>
            <a:ext cx="5019994" cy="2756059"/>
          </a:xfrm>
          <a:prstGeom prst="rect">
            <a:avLst/>
          </a:prstGeom>
        </p:spPr>
      </p:pic>
      <p:pic>
        <p:nvPicPr>
          <p:cNvPr id="9" name="Picture 8" descr="Rio Piracicaba entra em estado de extravasamento e bolsão da Rua do Porto tem pontos de alagamentos — Foto: Edijan Del Santo/EPTV">
            <a:extLst>
              <a:ext uri="{FF2B5EF4-FFF2-40B4-BE49-F238E27FC236}">
                <a16:creationId xmlns:a16="http://schemas.microsoft.com/office/drawing/2014/main" id="{82552957-1C57-557D-DD23-FEB58BC29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144" y="4412778"/>
            <a:ext cx="3040840" cy="2280630"/>
          </a:xfrm>
          <a:prstGeom prst="rect">
            <a:avLst/>
          </a:prstGeom>
        </p:spPr>
      </p:pic>
      <p:pic>
        <p:nvPicPr>
          <p:cNvPr id="12" name="Picture 11" descr="Rio Piracicaba entra em alerta para transbordamento em Piracicaba — Foto: Claudia Assencio/g1">
            <a:extLst>
              <a:ext uri="{FF2B5EF4-FFF2-40B4-BE49-F238E27FC236}">
                <a16:creationId xmlns:a16="http://schemas.microsoft.com/office/drawing/2014/main" id="{3FFD4A89-6FC1-F89B-18DF-B99B5D5B8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681" y="4498841"/>
            <a:ext cx="3719276" cy="2093983"/>
          </a:xfrm>
          <a:prstGeom prst="rect">
            <a:avLst/>
          </a:prstGeom>
        </p:spPr>
      </p:pic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7F382D5F-390D-34F3-96E0-7DBDB8A661CD}"/>
              </a:ext>
            </a:extLst>
          </p:cNvPr>
          <p:cNvSpPr/>
          <p:nvPr/>
        </p:nvSpPr>
        <p:spPr>
          <a:xfrm>
            <a:off x="640079" y="2390551"/>
            <a:ext cx="4355368" cy="3592938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56C344-3491-B52C-05A5-4E269066E671}"/>
              </a:ext>
            </a:extLst>
          </p:cNvPr>
          <p:cNvSpPr txBox="1"/>
          <p:nvPr/>
        </p:nvSpPr>
        <p:spPr>
          <a:xfrm>
            <a:off x="868680" y="2507874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00C9FF"/>
                </a:solidFill>
              </a:rPr>
              <a:t>Problema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00B8BF-A360-E6A6-1036-83DB3AEF3A39}"/>
              </a:ext>
            </a:extLst>
          </p:cNvPr>
          <p:cNvSpPr txBox="1"/>
          <p:nvPr/>
        </p:nvSpPr>
        <p:spPr>
          <a:xfrm>
            <a:off x="731519" y="2960226"/>
            <a:ext cx="4263928" cy="31085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Antecipar a ocorrência de cheias e a elevação dos níveis de água em rios naturais.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Ampliar o tempo de antecedência para emissão de alertas e adoção de medidas preventivas.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Superar as limitações dos sistemas baseados exclusivamente em limiares hidrológicos.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Avançar para sistemas de previsão e alerta baseados em impactos (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Impact-Based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Forecasting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and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Warning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Systems — IBFWS).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Traduzir previsões hidrológicas em informações sobre áreas inundadas, edificações afetadas e danos econômicos potenciais, apoiando a tomada de decisão.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9721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E8011-6B8E-2EC5-62BA-C43164DA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F4701B-4BFF-E506-89CA-90B594FB8C5A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A3DE1-6848-780F-0A3C-11203178E658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Sistema de Previsão de Inundação Baseado em Impactos (Piracicaba) 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AD0C68D-33CF-D7DC-E2C0-6B6317B85E65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8A43F0-DCF0-A460-57D4-5D6328979EBF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D194B4-4FA1-7547-B84B-CA0EF54DD1B9}"/>
              </a:ext>
            </a:extLst>
          </p:cNvPr>
          <p:cNvSpPr/>
          <p:nvPr/>
        </p:nvSpPr>
        <p:spPr>
          <a:xfrm>
            <a:off x="640079" y="2390551"/>
            <a:ext cx="4355368" cy="3592938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8994EE-BB65-FB37-F7BC-02FAB2FC0393}"/>
              </a:ext>
            </a:extLst>
          </p:cNvPr>
          <p:cNvSpPr txBox="1"/>
          <p:nvPr/>
        </p:nvSpPr>
        <p:spPr>
          <a:xfrm>
            <a:off x="868680" y="2507874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00C9FF"/>
                </a:solidFill>
              </a:rPr>
              <a:t>Problema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21FA5F-885B-8731-F6E5-D8B78143DFF6}"/>
              </a:ext>
            </a:extLst>
          </p:cNvPr>
          <p:cNvSpPr txBox="1"/>
          <p:nvPr/>
        </p:nvSpPr>
        <p:spPr>
          <a:xfrm>
            <a:off x="731519" y="2960226"/>
            <a:ext cx="4263928" cy="31085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Antecipar a ocorrência de cheias e a elevação dos níveis de água em rios naturais.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Ampliar o tempo de antecedência para emissão de alertas e adoção de medidas preventivas.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Superar as limitações dos sistemas baseados exclusivamente em limiares hidrológicos.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Avançar para sistemas de previsão e alerta baseados em impactos (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Impact-Based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Forecasting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and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Warning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Systems — IBFWS).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Traduzir previsões hidrológicas em informações sobre áreas inundadas, edificações afetadas e danos econômicos potenciais, apoiando a tomada de decisão.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11" name="Google Shape;178;p7">
            <a:extLst>
              <a:ext uri="{FF2B5EF4-FFF2-40B4-BE49-F238E27FC236}">
                <a16:creationId xmlns:a16="http://schemas.microsoft.com/office/drawing/2014/main" id="{63B3677A-5EDE-CA42-92C9-D1AEB85D6F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8355" y="1761126"/>
            <a:ext cx="3804911" cy="45061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104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3662D-896C-6CE4-9606-7902A33FC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325F38-C5B0-8C0B-AD4E-A78272C52DA3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94B68E-9762-CDCC-E191-3D646F3C1655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Sistema de Previsão de Inundação Baseado em Impactos (Piracicaba) 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516B975-6079-C3B6-4DC3-2D4400CA36C4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3F0948-362B-0778-D719-01993F5D2AA0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474450-D44D-6372-A36F-5D06B160191C}"/>
              </a:ext>
            </a:extLst>
          </p:cNvPr>
          <p:cNvSpPr/>
          <p:nvPr/>
        </p:nvSpPr>
        <p:spPr>
          <a:xfrm>
            <a:off x="640079" y="2390551"/>
            <a:ext cx="4355368" cy="3592938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BA332-2823-2054-B9F4-8EA3A70F51ED}"/>
              </a:ext>
            </a:extLst>
          </p:cNvPr>
          <p:cNvSpPr txBox="1"/>
          <p:nvPr/>
        </p:nvSpPr>
        <p:spPr>
          <a:xfrm>
            <a:off x="868680" y="2507874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00C9FF"/>
                </a:solidFill>
              </a:rPr>
              <a:t>Problema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EB9B41-1943-05D8-0532-42FF28DD626D}"/>
              </a:ext>
            </a:extLst>
          </p:cNvPr>
          <p:cNvSpPr txBox="1"/>
          <p:nvPr/>
        </p:nvSpPr>
        <p:spPr>
          <a:xfrm>
            <a:off x="731519" y="2960226"/>
            <a:ext cx="4263928" cy="31085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Antecipar a ocorrência de cheias e a elevação dos níveis de água em rios naturais.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Ampliar o tempo de antecedência para emissão de alertas e adoção de medidas preventivas.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Superar as limitações dos sistemas baseados exclusivamente em limiares hidrológicos.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Avançar para sistemas de previsão e alerta baseados em impactos (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Impact-Based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Forecasting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and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Warning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 Systems — IBFWS).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Traduzir previsões hidrológicas em informações sobre áreas inundadas, edificações afetadas e danos econômicos potenciais, apoiando a tomada de decisão.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8" name="Google Shape;193;p8">
            <a:extLst>
              <a:ext uri="{FF2B5EF4-FFF2-40B4-BE49-F238E27FC236}">
                <a16:creationId xmlns:a16="http://schemas.microsoft.com/office/drawing/2014/main" id="{E594A688-25EC-BFF7-DF87-3FC4A46A9D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4048" y="1898660"/>
            <a:ext cx="3841701" cy="4026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94;p8">
            <a:extLst>
              <a:ext uri="{FF2B5EF4-FFF2-40B4-BE49-F238E27FC236}">
                <a16:creationId xmlns:a16="http://schemas.microsoft.com/office/drawing/2014/main" id="{141A89C4-502A-818A-3751-F2095A6905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8809" y="2016518"/>
            <a:ext cx="3314732" cy="1440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7212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68E56-8688-A94A-D199-EAE9C3D26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19DD2-0C57-8B61-FBBE-96138F6FD240}"/>
              </a:ext>
            </a:extLst>
          </p:cNvPr>
          <p:cNvSpPr txBox="1"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E3D42-BACF-8171-A9C6-4B201D2ACC67}"/>
              </a:ext>
            </a:extLst>
          </p:cNvPr>
          <p:cNvSpPr txBox="1"/>
          <p:nvPr/>
        </p:nvSpPr>
        <p:spPr>
          <a:xfrm>
            <a:off x="411480" y="932688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Sistema de Previsão de Inundação Baseado em Impactos (Piracicaba) 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55A4FEF-8143-3C3E-A66C-32A4E26D2E31}"/>
              </a:ext>
            </a:extLst>
          </p:cNvPr>
          <p:cNvCxnSpPr/>
          <p:nvPr/>
        </p:nvCxnSpPr>
        <p:spPr>
          <a:xfrm>
            <a:off x="411480" y="1517904"/>
            <a:ext cx="11338560" cy="0"/>
          </a:xfrm>
          <a:prstGeom prst="line">
            <a:avLst/>
          </a:prstGeom>
          <a:ln w="12700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FA3AA75-68CB-6E5D-B717-2195563A6F97}"/>
              </a:ext>
            </a:extLst>
          </p:cNvPr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>
                <a:ln>
                  <a:noFill/>
                </a:ln>
                <a:solidFill>
                  <a:srgbClr val="AEBCCF"/>
                </a:solidFill>
                <a:effectLst/>
                <a:uLnTx/>
                <a:uFillTx/>
                <a:latin typeface="Aptos"/>
              </a:rPr>
              <a:t>Hydro-UAI Course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B789A9-FC1B-270D-887D-4D9CD139887C}"/>
              </a:ext>
            </a:extLst>
          </p:cNvPr>
          <p:cNvSpPr/>
          <p:nvPr/>
        </p:nvSpPr>
        <p:spPr>
          <a:xfrm>
            <a:off x="640079" y="2390551"/>
            <a:ext cx="4355368" cy="3758636"/>
          </a:xfrm>
          <a:prstGeom prst="roundRect">
            <a:avLst/>
          </a:prstGeom>
          <a:solidFill>
            <a:srgbClr val="0C2B4B"/>
          </a:solidFill>
          <a:ln>
            <a:solidFill>
              <a:srgbClr val="0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51201-75A8-DAE6-F734-F6D9A55F1BD6}"/>
              </a:ext>
            </a:extLst>
          </p:cNvPr>
          <p:cNvSpPr txBox="1"/>
          <p:nvPr/>
        </p:nvSpPr>
        <p:spPr>
          <a:xfrm>
            <a:off x="868680" y="2507874"/>
            <a:ext cx="15247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00C9FF"/>
                </a:solidFill>
              </a:rPr>
              <a:t>Abordagem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8904A-409A-44C3-021D-85288C192AE4}"/>
              </a:ext>
            </a:extLst>
          </p:cNvPr>
          <p:cNvSpPr txBox="1"/>
          <p:nvPr/>
        </p:nvSpPr>
        <p:spPr>
          <a:xfrm>
            <a:off x="731519" y="2960226"/>
            <a:ext cx="4263928" cy="31085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Utilização de séries temporais horárias de precipitação e nível como entradas.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Horizonte de previsão de 5 horas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F5F8FC"/>
                </a:solidFill>
                <a:latin typeface="Aptos"/>
              </a:rPr>
              <a:t>De nível para vazão -&gt; Curva-Chave pós-previsão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HECRASController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: inserção automatizada dos hidrogramas previstos no HEC-RAS para simulação hidrodinâmica 2D.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Análise de impactos: identificação de edificações atingidas pelas inundações simuladas.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</a:rPr>
              <a:t>Avaliação de danos econômicos: estimativa dos prejuízos associados às inundações previstas.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A72A26-C9AE-17F6-A8AC-E4428F3BF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579" y="1991204"/>
            <a:ext cx="6494944" cy="451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32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6">
            <a:extLst>
              <a:ext uri="{FF2B5EF4-FFF2-40B4-BE49-F238E27FC236}">
                <a16:creationId xmlns:a16="http://schemas.microsoft.com/office/drawing/2014/main" id="{A128DF21-58E1-6256-93AD-BD6E8FA32F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F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4D9514-7823-D118-3F41-47FF58775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700" y="1803493"/>
            <a:ext cx="6153926" cy="678363"/>
          </a:xfr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0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defRPr>
            </a:pPr>
            <a:r>
              <a:rPr sz="4000">
                <a:solidFill>
                  <a:srgbClr val="FFFFFF"/>
                </a:solidFill>
                <a:latin typeface="JetBrains Mono ExtraBold"/>
                <a:ea typeface="JetBrains Mono ExtraBold"/>
                <a:cs typeface="JetBrains Mono ExtraBold"/>
              </a:rPr>
              <a:t>OBRIGADO!</a:t>
            </a:r>
          </a:p>
        </p:txBody>
      </p:sp>
      <p:pic>
        <p:nvPicPr>
          <p:cNvPr id="23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pic>
        <p:nvPicPr>
          <p:cNvPr id="24" name="Imagem 13"/>
          <p:cNvPicPr>
            <a:picLocks noChangeAspect="1"/>
          </p:cNvPicPr>
          <p:nvPr/>
        </p:nvPicPr>
        <p:blipFill>
          <a:blip r:embed="rId4"/>
          <a:srcRect l="3570" r="8084" b="18195"/>
          <a:stretch>
            <a:fillRect/>
          </a:stretch>
        </p:blipFill>
        <p:spPr>
          <a:xfrm>
            <a:off x="447287" y="5924579"/>
            <a:ext cx="592780" cy="523392"/>
          </a:xfrm>
          <a:prstGeom prst="rect">
            <a:avLst/>
          </a:prstGeom>
        </p:spPr>
      </p:pic>
      <p:pic>
        <p:nvPicPr>
          <p:cNvPr id="25" name="Imagem 15"/>
          <p:cNvPicPr>
            <a:picLocks noChangeAspect="1"/>
          </p:cNvPicPr>
          <p:nvPr/>
        </p:nvPicPr>
        <p:blipFill>
          <a:blip r:embed="rId5"/>
          <a:srcRect l="1924" t="7917" r="1239" b="5183"/>
          <a:stretch>
            <a:fillRect/>
          </a:stretch>
        </p:blipFill>
        <p:spPr>
          <a:xfrm>
            <a:off x="453700" y="410029"/>
            <a:ext cx="1080460" cy="374888"/>
          </a:xfrm>
          <a:prstGeom prst="rect">
            <a:avLst/>
          </a:prstGeom>
        </p:spPr>
      </p:pic>
      <p:sp>
        <p:nvSpPr>
          <p:cNvPr id="4" name="Conector reto 3">
            <a:extLst>
              <a:ext uri="{FF2B5EF4-FFF2-40B4-BE49-F238E27FC236}">
                <a16:creationId xmlns:a16="http://schemas.microsoft.com/office/drawing/2014/main" id="{F191B54E-045E-431C-BB54-84379BDD96C0}"/>
              </a:ext>
            </a:extLst>
          </p:cNvPr>
          <p:cNvSpPr>
            <a:spLocks noGrp="1"/>
          </p:cNvSpPr>
          <p:nvPr/>
        </p:nvSpPr>
        <p:spPr>
          <a:xfrm>
            <a:off x="7048500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8857E61A-AD3C-257E-955E-792A9C1BAC4B}"/>
              </a:ext>
            </a:extLst>
          </p:cNvPr>
          <p:cNvSpPr>
            <a:spLocks noGrp="1"/>
          </p:cNvSpPr>
          <p:nvPr/>
        </p:nvSpPr>
        <p:spPr>
          <a:xfrm>
            <a:off x="453700" y="4285349"/>
            <a:ext cx="6153926" cy="149293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André Ferreira Rodrigues</a:t>
            </a:r>
          </a:p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Bruno Melo Brentan</a:t>
            </a:r>
          </a:p>
          <a:p>
            <a:pPr algn="r">
              <a:lnSpc>
                <a:spcPct val="150000"/>
              </a:lnSpc>
              <a:buNone/>
              <a:def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Prof. Rodrigo Perdigão</a:t>
            </a:r>
          </a:p>
        </p:txBody>
      </p:sp>
    </p:spTree>
    <p:extLst>
      <p:ext uri="{BB962C8B-B14F-4D97-AF65-F5344CB8AC3E}">
        <p14:creationId xmlns:p14="http://schemas.microsoft.com/office/powerpoint/2010/main" val="9402600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1005</Words>
  <Application>Microsoft Office PowerPoint</Application>
  <DocSecurity>0</DocSecurity>
  <PresentationFormat>Widescreen</PresentationFormat>
  <Paragraphs>130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JetBrains Mono</vt:lpstr>
      <vt:lpstr>JetBrains Mono ExtraBold</vt:lpstr>
      <vt:lpstr>Tema do Office</vt:lpstr>
      <vt:lpstr>Hydro-UAI Course</vt:lpstr>
      <vt:lpstr>Hydro-UAI 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Rodrigo Perdigao</cp:lastModifiedBy>
  <cp:revision>7</cp:revision>
  <dcterms:created xsi:type="dcterms:W3CDTF">2026-10-05T21:45:30Z</dcterms:created>
  <dcterms:modified xsi:type="dcterms:W3CDTF">2026-10-09T06:45:55Z</dcterms:modified>
</cp:coreProperties>
</file>